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Thinking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Box Plots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DATA-INFORMED 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0" y="228600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Seat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Arrangement Planning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120640" y="39776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distribution data — not averages — to design seating layouts around how guests actually arrive.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3794760"/>
            <a:ext cx="502920" cy="27432"/>
          </a:xfrm>
          <a:prstGeom prst="rect">
            <a:avLst/>
          </a:prstGeom>
          <a:solidFill>
            <a:srgbClr val="C1440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box plots fit in the design-thinking 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pairs a design-thinking activity with a specific statistical read of the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32104"/>
          </a:xfrm>
          <a:prstGeom prst="rect">
            <a:avLst/>
          </a:prstGeom>
          <a:solidFill>
            <a:srgbClr val="F2C9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8229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508760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Empathize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11880" y="1508760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Box-plot party size, dwell time &amp; wait time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69480" y="1508760"/>
            <a:ext cx="41148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+ IQR reveal the “typical” guest; outliers surface edge cases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64240" cy="832104"/>
          </a:xfrm>
          <a:prstGeom prst="rect">
            <a:avLst/>
          </a:prstGeom>
          <a:solidFill>
            <a:srgbClr val="FBF3E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50592"/>
            <a:ext cx="8229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45059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450592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from spread, not the mean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69480" y="2450592"/>
            <a:ext cx="41148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IQR reframes the brief: “design for variability,” not one guest profile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1064240" cy="832104"/>
          </a:xfrm>
          <a:prstGeom prst="rect">
            <a:avLst/>
          </a:prstGeom>
          <a:solidFill>
            <a:srgbClr val="F2C9A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92424"/>
            <a:ext cx="8229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3392424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3392424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against quartile bands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69480" y="3392424"/>
            <a:ext cx="41148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seating options generated per band (2-top / 4-top / combinable)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832104"/>
          </a:xfrm>
          <a:prstGeom prst="rect">
            <a:avLst/>
          </a:prstGeom>
          <a:solidFill>
            <a:srgbClr val="FBF3E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34256"/>
            <a:ext cx="8229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4334256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11880" y="4334256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floor plan weighted to the distribution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69480" y="4334256"/>
            <a:ext cx="41148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mix ratio set directly from quartile proportions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11064240" cy="832104"/>
          </a:xfrm>
          <a:prstGeom prst="rect">
            <a:avLst/>
          </a:prstGeom>
          <a:solidFill>
            <a:srgbClr val="F2C9A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76088"/>
            <a:ext cx="8229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5276088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11880" y="5276088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Box-plot new data against baseline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69480" y="5276088"/>
            <a:ext cx="41148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median + tighter IQR = quantitative proof the redesign worked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 / DEFINE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 “typical” party actually look like?</a:t>
            </a:r>
            <a:endParaRPr lang="en-US" sz="2000" dirty="0"/>
          </a:p>
        </p:txBody>
      </p:sp>
      <p:pic>
        <p:nvPicPr>
          <p:cNvPr id="5" name="Image 0" descr="chart1_party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6751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73352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149047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party size = 2, IQR spans 2–3 — most weeknight/weekend demand is small groups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2724912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9" name="Text 6"/>
          <p:cNvSpPr/>
          <p:nvPr/>
        </p:nvSpPr>
        <p:spPr>
          <a:xfrm>
            <a:off x="7726680" y="254203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Right-hand outliers (5–12 guests) are real but rare — don't over-design around them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98080" y="3776472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1" name="Text 8"/>
          <p:cNvSpPr/>
          <p:nvPr/>
        </p:nvSpPr>
        <p:spPr>
          <a:xfrm>
            <a:off x="7726680" y="359359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Design-thinking payoff: empathy work now targets the actual guest mix, not a guessed “average table of 4”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 / PROTOTYPE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 quartile bands into a table mix</a:t>
            </a:r>
            <a:endParaRPr lang="en-US" sz="2000" dirty="0"/>
          </a:p>
        </p:txBody>
      </p:sp>
      <p:pic>
        <p:nvPicPr>
          <p:cNvPr id="5" name="Image 0" descr="chart2_table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6751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00200"/>
            <a:ext cx="128016" cy="777240"/>
          </a:xfrm>
          <a:prstGeom prst="rect">
            <a:avLst/>
          </a:prstGeom>
          <a:solidFill>
            <a:srgbClr val="8A9B6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0" y="1581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2-tops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18928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Q1–median band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98080" y="2560320"/>
            <a:ext cx="128016" cy="77724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0" y="25420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4-tops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0" y="28529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median–Q3 band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0" y="3520440"/>
            <a:ext cx="128016" cy="777240"/>
          </a:xfrm>
          <a:prstGeom prst="rect">
            <a:avLst/>
          </a:prstGeom>
          <a:solidFill>
            <a:srgbClr val="D98C4A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0" y="35021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Combinable 6–8-tops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0" y="3813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for upper-quartile groups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98080" y="4480560"/>
            <a:ext cx="128016" cy="777240"/>
          </a:xfrm>
          <a:prstGeom prst="rect">
            <a:avLst/>
          </a:prstGeom>
          <a:solidFill>
            <a:srgbClr val="7A6A58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686800" y="4462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Banquette seating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86800" y="47731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rare large-party outliers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2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redesign worked — with the same lens</a:t>
            </a:r>
            <a:endParaRPr lang="en-US" sz="2000" dirty="0"/>
          </a:p>
        </p:txBody>
      </p:sp>
      <p:pic>
        <p:nvPicPr>
          <p:cNvPr id="5" name="Image 0" descr="chart3_wait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7607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554480"/>
            <a:ext cx="4480560" cy="1737360"/>
          </a:xfrm>
          <a:prstGeom prst="rect">
            <a:avLst/>
          </a:prstGeom>
          <a:solidFill>
            <a:srgbClr val="FBF3EA"/>
          </a:solidFill>
          <a:ln/>
        </p:spPr>
      </p:sp>
      <p:sp>
        <p:nvSpPr>
          <p:cNvPr id="7" name="Text 4"/>
          <p:cNvSpPr/>
          <p:nvPr/>
        </p:nvSpPr>
        <p:spPr>
          <a:xfrm>
            <a:off x="72694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6948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19 min · IQR 13–27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6948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69480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8 min · IQR 5–12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040880" y="3730752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2" name="Text 9"/>
          <p:cNvSpPr/>
          <p:nvPr/>
        </p:nvSpPr>
        <p:spPr>
          <a:xfrm>
            <a:off x="7269480" y="354787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median = faster average seating, not just a lucky night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40880" y="4507992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4" name="Text 11"/>
          <p:cNvSpPr/>
          <p:nvPr/>
        </p:nvSpPr>
        <p:spPr>
          <a:xfrm>
            <a:off x="7269480" y="432511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IQR = more predictable, consistent guest experience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0880" y="5285232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6" name="Text 13"/>
          <p:cNvSpPr/>
          <p:nvPr/>
        </p:nvSpPr>
        <p:spPr>
          <a:xfrm>
            <a:off x="7269480" y="510235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high-end outliers = fewer angry walk-outs at peak hours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beats “design around the average”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2011680"/>
          </a:xfrm>
          <a:prstGeom prst="rect">
            <a:avLst/>
          </a:prstGeom>
          <a:solidFill>
            <a:srgbClr val="3A2A1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184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Averages hide variability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of 3.1 guests tells you nothing about whether you need mostly 2-tops or a mix with banquettes.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2011680"/>
          </a:xfrm>
          <a:prstGeom prst="rect">
            <a:avLst/>
          </a:prstGeom>
          <a:solidFill>
            <a:srgbClr val="3A2A1E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184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Quartiles are design specs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103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median, and Q3 translate directly into a proportional table-mix ratio for the floor plan.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257800" cy="2011680"/>
          </a:xfrm>
          <a:prstGeom prst="rect">
            <a:avLst/>
          </a:prstGeom>
          <a:solidFill>
            <a:srgbClr val="3A2A1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502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 are a deliberate choice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 range shows exactly how much flexible/combinable seating to reserve — and how much to skip.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3749040"/>
            <a:ext cx="5257800" cy="2011680"/>
          </a:xfrm>
          <a:prstGeom prst="rect">
            <a:avLst/>
          </a:prstGeom>
          <a:solidFill>
            <a:srgbClr val="3A2A1E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9502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lens closes the loop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44348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the same box-plot metric as the empathize stage gives an apples-to-apples before/after comparison.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2026-07-11T03:43:58Z</dcterms:created>
  <dcterms:modified xsi:type="dcterms:W3CDTF">2026-07-11T03:43:58Z</dcterms:modified>
</cp:coreProperties>
</file>